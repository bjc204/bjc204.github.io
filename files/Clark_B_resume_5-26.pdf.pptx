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11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C8EA-4F61-9921-F3ECB085ED2F}"/>
              </c:ext>
            </c:extLst>
          </c:dPt>
          <c:dPt>
            <c:idx val="1"/>
            <c:bubble3D val="0"/>
            <c:spPr>
              <a:solidFill>
                <a:schemeClr val="tx2">
                  <a:lumMod val="25000"/>
                  <a:lumOff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8EA-4F61-9921-F3ECB085ED2F}"/>
              </c:ext>
            </c:extLst>
          </c:dPt>
          <c:dPt>
            <c:idx val="2"/>
            <c:bubble3D val="0"/>
            <c:spPr>
              <a:solidFill>
                <a:schemeClr val="tx2">
                  <a:lumMod val="90000"/>
                  <a:lumOff val="1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C8EA-4F61-9921-F3ECB085ED2F}"/>
              </c:ext>
            </c:extLst>
          </c:dPt>
          <c:dPt>
            <c:idx val="3"/>
            <c:bubble3D val="0"/>
            <c:spPr>
              <a:solidFill>
                <a:schemeClr val="tx2">
                  <a:lumMod val="75000"/>
                  <a:lumOff val="2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8EA-4F61-9921-F3ECB085ED2F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3.4</c:v>
                </c:pt>
                <c:pt idx="1">
                  <c:v>3</c:v>
                </c:pt>
                <c:pt idx="2">
                  <c:v>2.4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EA-4F61-9921-F3ECB085ED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9DAA-5AA1-4913-952A-B13D22A421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2262-9D2E-446E-ADDC-41879311D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9DAA-5AA1-4913-952A-B13D22A421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2262-9D2E-446E-ADDC-41879311D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42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9DAA-5AA1-4913-952A-B13D22A421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2262-9D2E-446E-ADDC-41879311D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59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9DAA-5AA1-4913-952A-B13D22A421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2262-9D2E-446E-ADDC-41879311D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9DAA-5AA1-4913-952A-B13D22A421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2262-9D2E-446E-ADDC-41879311D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82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9DAA-5AA1-4913-952A-B13D22A421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2262-9D2E-446E-ADDC-41879311D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52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9DAA-5AA1-4913-952A-B13D22A421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2262-9D2E-446E-ADDC-41879311D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0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9DAA-5AA1-4913-952A-B13D22A421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2262-9D2E-446E-ADDC-41879311D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59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9DAA-5AA1-4913-952A-B13D22A421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2262-9D2E-446E-ADDC-41879311D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75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9DAA-5AA1-4913-952A-B13D22A421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2262-9D2E-446E-ADDC-41879311D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52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9DAA-5AA1-4913-952A-B13D22A421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2262-9D2E-446E-ADDC-41879311D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39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29DAA-5AA1-4913-952A-B13D22A421C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4D2262-9D2E-446E-ADDC-41879311D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6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9DDC9F-ABB1-0665-80A7-917842B51C27}"/>
              </a:ext>
            </a:extLst>
          </p:cNvPr>
          <p:cNvSpPr txBox="1"/>
          <p:nvPr/>
        </p:nvSpPr>
        <p:spPr>
          <a:xfrm>
            <a:off x="248920" y="212020"/>
            <a:ext cx="56845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BRENDAN J. CLARK, PH.D.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91B77-D492-97C9-D1FC-AFF397A1F613}"/>
              </a:ext>
            </a:extLst>
          </p:cNvPr>
          <p:cNvSpPr txBox="1"/>
          <p:nvPr/>
        </p:nvSpPr>
        <p:spPr>
          <a:xfrm>
            <a:off x="519157" y="812340"/>
            <a:ext cx="15545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bjc328@cornell.edu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0B0E3B-F7B3-0BDD-A018-40098286DCFC}"/>
              </a:ext>
            </a:extLst>
          </p:cNvPr>
          <p:cNvSpPr txBox="1"/>
          <p:nvPr/>
        </p:nvSpPr>
        <p:spPr>
          <a:xfrm>
            <a:off x="2202338" y="809818"/>
            <a:ext cx="12988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bjc204.github.io</a:t>
            </a:r>
          </a:p>
        </p:txBody>
      </p:sp>
      <p:pic>
        <p:nvPicPr>
          <p:cNvPr id="17" name="Graphic 16" descr="Envelope with solid fill">
            <a:extLst>
              <a:ext uri="{FF2B5EF4-FFF2-40B4-BE49-F238E27FC236}">
                <a16:creationId xmlns:a16="http://schemas.microsoft.com/office/drawing/2014/main" id="{A7CFC1E1-90E4-0E37-AEC7-6D6EAAB659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227" y="837173"/>
            <a:ext cx="200252" cy="20025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0C34D30-620E-8751-CBD4-DC52EFC40FF8}"/>
              </a:ext>
            </a:extLst>
          </p:cNvPr>
          <p:cNvSpPr txBox="1"/>
          <p:nvPr/>
        </p:nvSpPr>
        <p:spPr>
          <a:xfrm>
            <a:off x="248919" y="1089055"/>
            <a:ext cx="3771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SUMMARY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B5FCF5C-F966-793D-7989-76D5082DF252}"/>
              </a:ext>
            </a:extLst>
          </p:cNvPr>
          <p:cNvCxnSpPr>
            <a:cxnSpLocks/>
          </p:cNvCxnSpPr>
          <p:nvPr/>
        </p:nvCxnSpPr>
        <p:spPr>
          <a:xfrm>
            <a:off x="339282" y="1435399"/>
            <a:ext cx="3447858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2FAB65B-0DFA-9814-2EBB-526613AA65F4}"/>
              </a:ext>
            </a:extLst>
          </p:cNvPr>
          <p:cNvSpPr txBox="1"/>
          <p:nvPr/>
        </p:nvSpPr>
        <p:spPr>
          <a:xfrm>
            <a:off x="248919" y="1503574"/>
            <a:ext cx="35382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Climate scientist with expertise in Earth system modeling, scientific computing, and data-driven analysis. Experience leading collaborative research projects, developing scalable computational workflows, and publishing high-impact scientific research. Passionate about using my skills to help solve pressing environmental issues.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3225DE-F1AD-875A-B77C-A9ABB58DFBCF}"/>
              </a:ext>
            </a:extLst>
          </p:cNvPr>
          <p:cNvSpPr txBox="1"/>
          <p:nvPr/>
        </p:nvSpPr>
        <p:spPr>
          <a:xfrm>
            <a:off x="4059455" y="1079761"/>
            <a:ext cx="1320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EDUCATION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118A06-0354-2AE4-8BE3-D41A01F9C309}"/>
              </a:ext>
            </a:extLst>
          </p:cNvPr>
          <p:cNvCxnSpPr>
            <a:cxnSpLocks/>
          </p:cNvCxnSpPr>
          <p:nvPr/>
        </p:nvCxnSpPr>
        <p:spPr>
          <a:xfrm>
            <a:off x="4150516" y="1420159"/>
            <a:ext cx="230330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67" name="Group 1166">
            <a:extLst>
              <a:ext uri="{FF2B5EF4-FFF2-40B4-BE49-F238E27FC236}">
                <a16:creationId xmlns:a16="http://schemas.microsoft.com/office/drawing/2014/main" id="{5AEBCA69-61BB-75AE-51D3-50EA34F2C08D}"/>
              </a:ext>
            </a:extLst>
          </p:cNvPr>
          <p:cNvGrpSpPr/>
          <p:nvPr/>
        </p:nvGrpSpPr>
        <p:grpSpPr>
          <a:xfrm>
            <a:off x="4099716" y="1512492"/>
            <a:ext cx="2536142" cy="729370"/>
            <a:chOff x="4194857" y="1649652"/>
            <a:chExt cx="2536142" cy="72937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7983402-9655-35A1-20BA-C2F62FED245F}"/>
                </a:ext>
              </a:extLst>
            </p:cNvPr>
            <p:cNvSpPr txBox="1"/>
            <p:nvPr/>
          </p:nvSpPr>
          <p:spPr>
            <a:xfrm>
              <a:off x="4194857" y="1649652"/>
              <a:ext cx="24558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Ph.D. in Atmospheric Science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E1F44ED-F905-158E-A79B-4AA1E4742B05}"/>
                </a:ext>
              </a:extLst>
            </p:cNvPr>
            <p:cNvSpPr txBox="1"/>
            <p:nvPr/>
          </p:nvSpPr>
          <p:spPr>
            <a:xfrm>
              <a:off x="4194857" y="1868685"/>
              <a:ext cx="2287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Rutgers University</a:t>
              </a:r>
            </a:p>
          </p:txBody>
        </p:sp>
        <p:pic>
          <p:nvPicPr>
            <p:cNvPr id="44" name="Graphic 43" descr="Daily calendar with solid fill">
              <a:extLst>
                <a:ext uri="{FF2B5EF4-FFF2-40B4-BE49-F238E27FC236}">
                  <a16:creationId xmlns:a16="http://schemas.microsoft.com/office/drawing/2014/main" id="{31EC7104-06D0-3F1F-B759-64B78BD940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57849" y="2096119"/>
              <a:ext cx="259080" cy="259080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425122B-6056-24A8-B5A7-203FAB69A9A3}"/>
                </a:ext>
              </a:extLst>
            </p:cNvPr>
            <p:cNvSpPr txBox="1"/>
            <p:nvPr/>
          </p:nvSpPr>
          <p:spPr>
            <a:xfrm>
              <a:off x="4443777" y="2102023"/>
              <a:ext cx="22872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November 2022 - January 2025</a:t>
              </a:r>
            </a:p>
          </p:txBody>
        </p:sp>
      </p:grpSp>
      <p:grpSp>
        <p:nvGrpSpPr>
          <p:cNvPr id="1168" name="Group 1167">
            <a:extLst>
              <a:ext uri="{FF2B5EF4-FFF2-40B4-BE49-F238E27FC236}">
                <a16:creationId xmlns:a16="http://schemas.microsoft.com/office/drawing/2014/main" id="{56B7E78C-4386-943B-0FA6-8C10C91DB865}"/>
              </a:ext>
            </a:extLst>
          </p:cNvPr>
          <p:cNvGrpSpPr/>
          <p:nvPr/>
        </p:nvGrpSpPr>
        <p:grpSpPr>
          <a:xfrm>
            <a:off x="4099715" y="2283998"/>
            <a:ext cx="2638760" cy="715906"/>
            <a:chOff x="4194856" y="2421158"/>
            <a:chExt cx="2638760" cy="715906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56B69BD-A916-1F4A-4870-45F23AFC0F4B}"/>
                </a:ext>
              </a:extLst>
            </p:cNvPr>
            <p:cNvSpPr txBox="1"/>
            <p:nvPr/>
          </p:nvSpPr>
          <p:spPr>
            <a:xfrm>
              <a:off x="4194856" y="2421158"/>
              <a:ext cx="26387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M.Sc. in Atmospheric Science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E5C5D2D-0905-9BE1-2111-24AF7C2C1635}"/>
                </a:ext>
              </a:extLst>
            </p:cNvPr>
            <p:cNvSpPr txBox="1"/>
            <p:nvPr/>
          </p:nvSpPr>
          <p:spPr>
            <a:xfrm>
              <a:off x="4194857" y="2626212"/>
              <a:ext cx="2287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Rutgers University</a:t>
              </a:r>
            </a:p>
          </p:txBody>
        </p:sp>
        <p:pic>
          <p:nvPicPr>
            <p:cNvPr id="48" name="Graphic 47" descr="Daily calendar with solid fill">
              <a:extLst>
                <a:ext uri="{FF2B5EF4-FFF2-40B4-BE49-F238E27FC236}">
                  <a16:creationId xmlns:a16="http://schemas.microsoft.com/office/drawing/2014/main" id="{936FE117-4B04-4526-6E5C-6D380E2405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57849" y="2852445"/>
              <a:ext cx="259080" cy="25908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12F3ABF-B5CE-72B0-B578-B4BA800029D0}"/>
                </a:ext>
              </a:extLst>
            </p:cNvPr>
            <p:cNvSpPr txBox="1"/>
            <p:nvPr/>
          </p:nvSpPr>
          <p:spPr>
            <a:xfrm>
              <a:off x="4443777" y="2860065"/>
              <a:ext cx="22872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August 2020 - November 2022 </a:t>
              </a:r>
            </a:p>
          </p:txBody>
        </p:sp>
      </p:grpSp>
      <p:grpSp>
        <p:nvGrpSpPr>
          <p:cNvPr id="1169" name="Group 1168">
            <a:extLst>
              <a:ext uri="{FF2B5EF4-FFF2-40B4-BE49-F238E27FC236}">
                <a16:creationId xmlns:a16="http://schemas.microsoft.com/office/drawing/2014/main" id="{EB53E71B-3F44-4A0D-4FCA-E125A7BD0ACA}"/>
              </a:ext>
            </a:extLst>
          </p:cNvPr>
          <p:cNvGrpSpPr/>
          <p:nvPr/>
        </p:nvGrpSpPr>
        <p:grpSpPr>
          <a:xfrm>
            <a:off x="4080556" y="3075015"/>
            <a:ext cx="2638760" cy="715906"/>
            <a:chOff x="4194856" y="3212175"/>
            <a:chExt cx="2638760" cy="715906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F61BDF6-6B3A-4A90-01A9-D6EE5F776910}"/>
                </a:ext>
              </a:extLst>
            </p:cNvPr>
            <p:cNvSpPr txBox="1"/>
            <p:nvPr/>
          </p:nvSpPr>
          <p:spPr>
            <a:xfrm>
              <a:off x="4194856" y="3212175"/>
              <a:ext cx="26387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B.Sc. in Environmental Science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7E12589-62DC-A09D-2C77-71C74C6FAADB}"/>
                </a:ext>
              </a:extLst>
            </p:cNvPr>
            <p:cNvSpPr txBox="1"/>
            <p:nvPr/>
          </p:nvSpPr>
          <p:spPr>
            <a:xfrm>
              <a:off x="4194857" y="3417229"/>
              <a:ext cx="2287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University of Massachusetts</a:t>
              </a:r>
            </a:p>
          </p:txBody>
        </p:sp>
        <p:pic>
          <p:nvPicPr>
            <p:cNvPr id="52" name="Graphic 51" descr="Daily calendar with solid fill">
              <a:extLst>
                <a:ext uri="{FF2B5EF4-FFF2-40B4-BE49-F238E27FC236}">
                  <a16:creationId xmlns:a16="http://schemas.microsoft.com/office/drawing/2014/main" id="{1C50DD30-1C6B-A1BC-9FCB-034104F74B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57849" y="3643462"/>
              <a:ext cx="259080" cy="25908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3D4D49D-BB7F-47C8-EF16-ED989A296D47}"/>
                </a:ext>
              </a:extLst>
            </p:cNvPr>
            <p:cNvSpPr txBox="1"/>
            <p:nvPr/>
          </p:nvSpPr>
          <p:spPr>
            <a:xfrm>
              <a:off x="4443777" y="3651082"/>
              <a:ext cx="22872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August 2016 - May 2020 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12877DA-97DD-0F20-A001-46DB82E7DB01}"/>
              </a:ext>
            </a:extLst>
          </p:cNvPr>
          <p:cNvSpPr txBox="1"/>
          <p:nvPr/>
        </p:nvSpPr>
        <p:spPr>
          <a:xfrm>
            <a:off x="4040295" y="3860906"/>
            <a:ext cx="1423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INTERESTS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49A5724-60F8-F5B3-A59E-26C25EDD1F9D}"/>
              </a:ext>
            </a:extLst>
          </p:cNvPr>
          <p:cNvCxnSpPr>
            <a:cxnSpLocks/>
          </p:cNvCxnSpPr>
          <p:nvPr/>
        </p:nvCxnSpPr>
        <p:spPr>
          <a:xfrm>
            <a:off x="4131357" y="4191987"/>
            <a:ext cx="230330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23" name="Group 1122">
            <a:extLst>
              <a:ext uri="{FF2B5EF4-FFF2-40B4-BE49-F238E27FC236}">
                <a16:creationId xmlns:a16="http://schemas.microsoft.com/office/drawing/2014/main" id="{DD50BB2F-ECD4-51F1-9B02-8758990CF9E4}"/>
              </a:ext>
            </a:extLst>
          </p:cNvPr>
          <p:cNvGrpSpPr/>
          <p:nvPr/>
        </p:nvGrpSpPr>
        <p:grpSpPr>
          <a:xfrm>
            <a:off x="4069433" y="4215160"/>
            <a:ext cx="2622548" cy="900652"/>
            <a:chOff x="4208117" y="4352320"/>
            <a:chExt cx="2622548" cy="900652"/>
          </a:xfrm>
        </p:grpSpPr>
        <p:graphicFrame>
          <p:nvGraphicFramePr>
            <p:cNvPr id="58" name="Chart 57">
              <a:extLst>
                <a:ext uri="{FF2B5EF4-FFF2-40B4-BE49-F238E27FC236}">
                  <a16:creationId xmlns:a16="http://schemas.microsoft.com/office/drawing/2014/main" id="{4EE3C73B-C03C-2627-F826-83DDF3D0868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66361251"/>
                </p:ext>
              </p:extLst>
            </p:nvPr>
          </p:nvGraphicFramePr>
          <p:xfrm>
            <a:off x="4655821" y="4420587"/>
            <a:ext cx="1498299" cy="79101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59AF2DE-5D2E-5981-2C9E-FA81FC512DBC}"/>
                </a:ext>
              </a:extLst>
            </p:cNvPr>
            <p:cNvSpPr/>
            <p:nvPr/>
          </p:nvSpPr>
          <p:spPr>
            <a:xfrm>
              <a:off x="5553711" y="4661665"/>
              <a:ext cx="68580" cy="7048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E100397-EA52-C9D3-8FCD-99DBB40917AC}"/>
                </a:ext>
              </a:extLst>
            </p:cNvPr>
            <p:cNvSpPr/>
            <p:nvPr/>
          </p:nvSpPr>
          <p:spPr>
            <a:xfrm>
              <a:off x="5439411" y="4985515"/>
              <a:ext cx="68580" cy="7048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91E56E4-BB30-9142-BC20-39E8F3CE1B37}"/>
                </a:ext>
              </a:extLst>
            </p:cNvPr>
            <p:cNvSpPr/>
            <p:nvPr/>
          </p:nvSpPr>
          <p:spPr>
            <a:xfrm>
              <a:off x="5159376" y="4848063"/>
              <a:ext cx="68580" cy="7048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A6EB690-E71D-385B-C61B-8147C4362E1E}"/>
                </a:ext>
              </a:extLst>
            </p:cNvPr>
            <p:cNvSpPr/>
            <p:nvPr/>
          </p:nvSpPr>
          <p:spPr>
            <a:xfrm>
              <a:off x="5243473" y="4598323"/>
              <a:ext cx="68580" cy="7048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54" name="Connector: Elbow 1053">
              <a:extLst>
                <a:ext uri="{FF2B5EF4-FFF2-40B4-BE49-F238E27FC236}">
                  <a16:creationId xmlns:a16="http://schemas.microsoft.com/office/drawing/2014/main" id="{2E9B405F-254F-EF59-0E14-F78E815FF49E}"/>
                </a:ext>
              </a:extLst>
            </p:cNvPr>
            <p:cNvCxnSpPr>
              <a:stCxn id="59" idx="0"/>
            </p:cNvCxnSpPr>
            <p:nvPr/>
          </p:nvCxnSpPr>
          <p:spPr>
            <a:xfrm rot="5400000" flipH="1" flipV="1">
              <a:off x="5692537" y="4493787"/>
              <a:ext cx="63342" cy="272415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Connector: Elbow 1055">
              <a:extLst>
                <a:ext uri="{FF2B5EF4-FFF2-40B4-BE49-F238E27FC236}">
                  <a16:creationId xmlns:a16="http://schemas.microsoft.com/office/drawing/2014/main" id="{D9EC10BA-7348-00EE-F978-C69A8E0E0C75}"/>
                </a:ext>
              </a:extLst>
            </p:cNvPr>
            <p:cNvCxnSpPr>
              <a:stCxn id="62" idx="0"/>
            </p:cNvCxnSpPr>
            <p:nvPr/>
          </p:nvCxnSpPr>
          <p:spPr>
            <a:xfrm rot="16200000" flipV="1">
              <a:off x="5083489" y="4404048"/>
              <a:ext cx="52993" cy="335557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8" name="Connector: Elbow 1057">
              <a:extLst>
                <a:ext uri="{FF2B5EF4-FFF2-40B4-BE49-F238E27FC236}">
                  <a16:creationId xmlns:a16="http://schemas.microsoft.com/office/drawing/2014/main" id="{7ADA100B-40DD-160F-7E3E-72B5174F45AC}"/>
                </a:ext>
              </a:extLst>
            </p:cNvPr>
            <p:cNvCxnSpPr>
              <a:stCxn id="61" idx="4"/>
            </p:cNvCxnSpPr>
            <p:nvPr/>
          </p:nvCxnSpPr>
          <p:spPr>
            <a:xfrm rot="5400000">
              <a:off x="5030680" y="4837638"/>
              <a:ext cx="82077" cy="243897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59" name="TextBox 1058">
              <a:extLst>
                <a:ext uri="{FF2B5EF4-FFF2-40B4-BE49-F238E27FC236}">
                  <a16:creationId xmlns:a16="http://schemas.microsoft.com/office/drawing/2014/main" id="{6904BBC1-48E6-6B42-6B51-CFA420BB89CF}"/>
                </a:ext>
              </a:extLst>
            </p:cNvPr>
            <p:cNvSpPr txBox="1"/>
            <p:nvPr/>
          </p:nvSpPr>
          <p:spPr>
            <a:xfrm>
              <a:off x="4208117" y="4352320"/>
              <a:ext cx="863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Climate Prediction</a:t>
              </a:r>
            </a:p>
          </p:txBody>
        </p:sp>
        <p:sp>
          <p:nvSpPr>
            <p:cNvPr id="1060" name="TextBox 1059">
              <a:extLst>
                <a:ext uri="{FF2B5EF4-FFF2-40B4-BE49-F238E27FC236}">
                  <a16:creationId xmlns:a16="http://schemas.microsoft.com/office/drawing/2014/main" id="{D1D5682D-31CA-69A8-09A9-E64965C3C046}"/>
                </a:ext>
              </a:extLst>
            </p:cNvPr>
            <p:cNvSpPr txBox="1"/>
            <p:nvPr/>
          </p:nvSpPr>
          <p:spPr>
            <a:xfrm>
              <a:off x="5752134" y="4852862"/>
              <a:ext cx="1078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Climate Interventions</a:t>
              </a:r>
            </a:p>
          </p:txBody>
        </p:sp>
        <p:sp>
          <p:nvSpPr>
            <p:cNvPr id="1061" name="TextBox 1060">
              <a:extLst>
                <a:ext uri="{FF2B5EF4-FFF2-40B4-BE49-F238E27FC236}">
                  <a16:creationId xmlns:a16="http://schemas.microsoft.com/office/drawing/2014/main" id="{4C6C7AEE-B656-BA93-7F81-CF3D0D02235C}"/>
                </a:ext>
              </a:extLst>
            </p:cNvPr>
            <p:cNvSpPr txBox="1"/>
            <p:nvPr/>
          </p:nvSpPr>
          <p:spPr>
            <a:xfrm>
              <a:off x="4248247" y="4809271"/>
              <a:ext cx="863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Food Security</a:t>
              </a:r>
            </a:p>
          </p:txBody>
        </p:sp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43EC2D21-9AB1-2B8B-1C75-CDE662CA21AB}"/>
                </a:ext>
              </a:extLst>
            </p:cNvPr>
            <p:cNvSpPr txBox="1"/>
            <p:nvPr/>
          </p:nvSpPr>
          <p:spPr>
            <a:xfrm>
              <a:off x="5731238" y="4398268"/>
              <a:ext cx="10874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Carbon Cycle Modeling</a:t>
              </a:r>
            </a:p>
          </p:txBody>
        </p: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69662213-1ABF-E294-F85B-B23E41F840F7}"/>
                </a:ext>
              </a:extLst>
            </p:cNvPr>
            <p:cNvCxnSpPr>
              <a:stCxn id="60" idx="6"/>
            </p:cNvCxnSpPr>
            <p:nvPr/>
          </p:nvCxnSpPr>
          <p:spPr>
            <a:xfrm flipV="1">
              <a:off x="5507991" y="5020757"/>
              <a:ext cx="425449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66" name="TextBox 1065">
            <a:extLst>
              <a:ext uri="{FF2B5EF4-FFF2-40B4-BE49-F238E27FC236}">
                <a16:creationId xmlns:a16="http://schemas.microsoft.com/office/drawing/2014/main" id="{64B0C24B-9D67-6817-C193-D40DA4E7B170}"/>
              </a:ext>
            </a:extLst>
          </p:cNvPr>
          <p:cNvSpPr txBox="1"/>
          <p:nvPr/>
        </p:nvSpPr>
        <p:spPr>
          <a:xfrm>
            <a:off x="4036161" y="5154084"/>
            <a:ext cx="18998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TECHNICAL SKILLS</a:t>
            </a:r>
          </a:p>
        </p:txBody>
      </p:sp>
      <p:cxnSp>
        <p:nvCxnSpPr>
          <p:cNvPr id="1067" name="Straight Connector 1066">
            <a:extLst>
              <a:ext uri="{FF2B5EF4-FFF2-40B4-BE49-F238E27FC236}">
                <a16:creationId xmlns:a16="http://schemas.microsoft.com/office/drawing/2014/main" id="{E7B3476D-2C75-4E0F-6255-9662D0D9FBB6}"/>
              </a:ext>
            </a:extLst>
          </p:cNvPr>
          <p:cNvCxnSpPr>
            <a:cxnSpLocks/>
          </p:cNvCxnSpPr>
          <p:nvPr/>
        </p:nvCxnSpPr>
        <p:spPr>
          <a:xfrm>
            <a:off x="4131357" y="5488508"/>
            <a:ext cx="230330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27" name="Group 1126">
            <a:extLst>
              <a:ext uri="{FF2B5EF4-FFF2-40B4-BE49-F238E27FC236}">
                <a16:creationId xmlns:a16="http://schemas.microsoft.com/office/drawing/2014/main" id="{463C7BB7-6E16-028F-A426-88187D475BDD}"/>
              </a:ext>
            </a:extLst>
          </p:cNvPr>
          <p:cNvGrpSpPr/>
          <p:nvPr/>
        </p:nvGrpSpPr>
        <p:grpSpPr>
          <a:xfrm>
            <a:off x="4080344" y="5580792"/>
            <a:ext cx="2379718" cy="1092607"/>
            <a:chOff x="4219028" y="5717952"/>
            <a:chExt cx="2379718" cy="1092607"/>
          </a:xfrm>
        </p:grpSpPr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F474D3CB-5AF4-568D-BD5A-604651A07F10}"/>
                </a:ext>
              </a:extLst>
            </p:cNvPr>
            <p:cNvSpPr txBox="1"/>
            <p:nvPr/>
          </p:nvSpPr>
          <p:spPr>
            <a:xfrm>
              <a:off x="4219028" y="5717952"/>
              <a:ext cx="1482991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US" sz="1100" b="1" dirty="0">
                  <a:solidFill>
                    <a:schemeClr val="bg1">
                      <a:lumMod val="50000"/>
                    </a:schemeClr>
                  </a:solidFill>
                </a:rPr>
                <a:t>Python</a:t>
              </a:r>
            </a:p>
            <a:p>
              <a:pPr>
                <a:spcAft>
                  <a:spcPts val="300"/>
                </a:spcAft>
              </a:pPr>
              <a:r>
                <a:rPr lang="en-US" sz="1100" b="1" dirty="0">
                  <a:solidFill>
                    <a:schemeClr val="bg1">
                      <a:lumMod val="50000"/>
                    </a:schemeClr>
                  </a:solidFill>
                </a:rPr>
                <a:t>Version control (git)</a:t>
              </a:r>
            </a:p>
            <a:p>
              <a:pPr>
                <a:spcAft>
                  <a:spcPts val="300"/>
                </a:spcAft>
              </a:pPr>
              <a:r>
                <a:rPr lang="en-US" sz="1100" b="1" dirty="0">
                  <a:solidFill>
                    <a:schemeClr val="bg1">
                      <a:lumMod val="50000"/>
                    </a:schemeClr>
                  </a:solidFill>
                </a:rPr>
                <a:t>Shell scripting</a:t>
              </a:r>
            </a:p>
            <a:p>
              <a:pPr>
                <a:spcAft>
                  <a:spcPts val="300"/>
                </a:spcAft>
              </a:pPr>
              <a:r>
                <a:rPr lang="en-US" sz="1100" b="1" dirty="0">
                  <a:solidFill>
                    <a:schemeClr val="bg1">
                      <a:lumMod val="50000"/>
                    </a:schemeClr>
                  </a:solidFill>
                </a:rPr>
                <a:t>Cloud computing</a:t>
              </a:r>
            </a:p>
            <a:p>
              <a:pPr>
                <a:spcAft>
                  <a:spcPts val="300"/>
                </a:spcAft>
              </a:pPr>
              <a:r>
                <a:rPr lang="en-US" sz="1100" b="1" dirty="0">
                  <a:solidFill>
                    <a:schemeClr val="bg1">
                      <a:lumMod val="50000"/>
                    </a:schemeClr>
                  </a:solidFill>
                </a:rPr>
                <a:t>R</a:t>
              </a:r>
            </a:p>
          </p:txBody>
        </p:sp>
        <p:grpSp>
          <p:nvGrpSpPr>
            <p:cNvPr id="1125" name="Group 1124">
              <a:extLst>
                <a:ext uri="{FF2B5EF4-FFF2-40B4-BE49-F238E27FC236}">
                  <a16:creationId xmlns:a16="http://schemas.microsoft.com/office/drawing/2014/main" id="{697B783B-3A72-B70A-C634-4D82AAA6B6FC}"/>
                </a:ext>
              </a:extLst>
            </p:cNvPr>
            <p:cNvGrpSpPr/>
            <p:nvPr/>
          </p:nvGrpSpPr>
          <p:grpSpPr>
            <a:xfrm>
              <a:off x="5667837" y="5781611"/>
              <a:ext cx="930909" cy="954787"/>
              <a:chOff x="5667837" y="5781611"/>
              <a:chExt cx="930909" cy="954787"/>
            </a:xfrm>
          </p:grpSpPr>
          <p:sp>
            <p:nvSpPr>
              <p:cNvPr id="1068" name="Oval 1067">
                <a:extLst>
                  <a:ext uri="{FF2B5EF4-FFF2-40B4-BE49-F238E27FC236}">
                    <a16:creationId xmlns:a16="http://schemas.microsoft.com/office/drawing/2014/main" id="{F4793345-9862-94F0-1F70-215873ACD88D}"/>
                  </a:ext>
                </a:extLst>
              </p:cNvPr>
              <p:cNvSpPr/>
              <p:nvPr/>
            </p:nvSpPr>
            <p:spPr>
              <a:xfrm>
                <a:off x="5667837" y="5784884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9" name="Oval 1068">
                <a:extLst>
                  <a:ext uri="{FF2B5EF4-FFF2-40B4-BE49-F238E27FC236}">
                    <a16:creationId xmlns:a16="http://schemas.microsoft.com/office/drawing/2014/main" id="{58ECE4C5-DEE4-699E-06D3-61263E22DF01}"/>
                  </a:ext>
                </a:extLst>
              </p:cNvPr>
              <p:cNvSpPr/>
              <p:nvPr/>
            </p:nvSpPr>
            <p:spPr>
              <a:xfrm>
                <a:off x="5868775" y="5784884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0" name="Oval 1069">
                <a:extLst>
                  <a:ext uri="{FF2B5EF4-FFF2-40B4-BE49-F238E27FC236}">
                    <a16:creationId xmlns:a16="http://schemas.microsoft.com/office/drawing/2014/main" id="{5A2B182F-719D-A264-87D5-52D66692679F}"/>
                  </a:ext>
                </a:extLst>
              </p:cNvPr>
              <p:cNvSpPr/>
              <p:nvPr/>
            </p:nvSpPr>
            <p:spPr>
              <a:xfrm>
                <a:off x="6071711" y="5784884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1" name="Oval 1070">
                <a:extLst>
                  <a:ext uri="{FF2B5EF4-FFF2-40B4-BE49-F238E27FC236}">
                    <a16:creationId xmlns:a16="http://schemas.microsoft.com/office/drawing/2014/main" id="{652EC80F-FC1E-A7C4-FFB4-8E152EE5BFB0}"/>
                  </a:ext>
                </a:extLst>
              </p:cNvPr>
              <p:cNvSpPr/>
              <p:nvPr/>
            </p:nvSpPr>
            <p:spPr>
              <a:xfrm>
                <a:off x="6274647" y="5781611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2" name="Oval 1071">
                <a:extLst>
                  <a:ext uri="{FF2B5EF4-FFF2-40B4-BE49-F238E27FC236}">
                    <a16:creationId xmlns:a16="http://schemas.microsoft.com/office/drawing/2014/main" id="{71F4A4C4-5AEC-5E20-F759-2557A8FF2CB5}"/>
                  </a:ext>
                </a:extLst>
              </p:cNvPr>
              <p:cNvSpPr/>
              <p:nvPr/>
            </p:nvSpPr>
            <p:spPr>
              <a:xfrm>
                <a:off x="6475585" y="5781611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4" name="Oval 1073">
                <a:extLst>
                  <a:ext uri="{FF2B5EF4-FFF2-40B4-BE49-F238E27FC236}">
                    <a16:creationId xmlns:a16="http://schemas.microsoft.com/office/drawing/2014/main" id="{947E7AAF-7329-7D7B-83CE-075FB645A6D0}"/>
                  </a:ext>
                </a:extLst>
              </p:cNvPr>
              <p:cNvSpPr/>
              <p:nvPr/>
            </p:nvSpPr>
            <p:spPr>
              <a:xfrm>
                <a:off x="5667837" y="5989339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5" name="Oval 1074">
                <a:extLst>
                  <a:ext uri="{FF2B5EF4-FFF2-40B4-BE49-F238E27FC236}">
                    <a16:creationId xmlns:a16="http://schemas.microsoft.com/office/drawing/2014/main" id="{E9AD834C-CCFD-1569-5D50-532B75ED8543}"/>
                  </a:ext>
                </a:extLst>
              </p:cNvPr>
              <p:cNvSpPr/>
              <p:nvPr/>
            </p:nvSpPr>
            <p:spPr>
              <a:xfrm>
                <a:off x="5868775" y="5989339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6" name="Oval 1075">
                <a:extLst>
                  <a:ext uri="{FF2B5EF4-FFF2-40B4-BE49-F238E27FC236}">
                    <a16:creationId xmlns:a16="http://schemas.microsoft.com/office/drawing/2014/main" id="{01D79C0A-BDC8-719F-B23A-9286CBD03507}"/>
                  </a:ext>
                </a:extLst>
              </p:cNvPr>
              <p:cNvSpPr/>
              <p:nvPr/>
            </p:nvSpPr>
            <p:spPr>
              <a:xfrm>
                <a:off x="6071711" y="5989339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7" name="Oval 1076">
                <a:extLst>
                  <a:ext uri="{FF2B5EF4-FFF2-40B4-BE49-F238E27FC236}">
                    <a16:creationId xmlns:a16="http://schemas.microsoft.com/office/drawing/2014/main" id="{63488E64-7950-021D-ED81-640D4BD40F3E}"/>
                  </a:ext>
                </a:extLst>
              </p:cNvPr>
              <p:cNvSpPr/>
              <p:nvPr/>
            </p:nvSpPr>
            <p:spPr>
              <a:xfrm>
                <a:off x="6274647" y="5986066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8" name="Oval 1077">
                <a:extLst>
                  <a:ext uri="{FF2B5EF4-FFF2-40B4-BE49-F238E27FC236}">
                    <a16:creationId xmlns:a16="http://schemas.microsoft.com/office/drawing/2014/main" id="{11B3A669-1343-8F6B-7A93-7AB1238951DC}"/>
                  </a:ext>
                </a:extLst>
              </p:cNvPr>
              <p:cNvSpPr/>
              <p:nvPr/>
            </p:nvSpPr>
            <p:spPr>
              <a:xfrm>
                <a:off x="6475585" y="5986066"/>
                <a:ext cx="123161" cy="12287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79" name="Oval 1078">
                <a:extLst>
                  <a:ext uri="{FF2B5EF4-FFF2-40B4-BE49-F238E27FC236}">
                    <a16:creationId xmlns:a16="http://schemas.microsoft.com/office/drawing/2014/main" id="{434A6824-CDD3-A42B-3ECD-389B7A2CE31F}"/>
                  </a:ext>
                </a:extLst>
              </p:cNvPr>
              <p:cNvSpPr/>
              <p:nvPr/>
            </p:nvSpPr>
            <p:spPr>
              <a:xfrm>
                <a:off x="5667837" y="6193794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0" name="Oval 1079">
                <a:extLst>
                  <a:ext uri="{FF2B5EF4-FFF2-40B4-BE49-F238E27FC236}">
                    <a16:creationId xmlns:a16="http://schemas.microsoft.com/office/drawing/2014/main" id="{73E208F5-4C9C-0674-1BD8-FC23D6A5C157}"/>
                  </a:ext>
                </a:extLst>
              </p:cNvPr>
              <p:cNvSpPr/>
              <p:nvPr/>
            </p:nvSpPr>
            <p:spPr>
              <a:xfrm>
                <a:off x="5868775" y="6193794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1" name="Oval 1080">
                <a:extLst>
                  <a:ext uri="{FF2B5EF4-FFF2-40B4-BE49-F238E27FC236}">
                    <a16:creationId xmlns:a16="http://schemas.microsoft.com/office/drawing/2014/main" id="{EB562899-B789-8915-61EA-F545B98CEFEB}"/>
                  </a:ext>
                </a:extLst>
              </p:cNvPr>
              <p:cNvSpPr/>
              <p:nvPr/>
            </p:nvSpPr>
            <p:spPr>
              <a:xfrm>
                <a:off x="6071711" y="6193794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2" name="Oval 1081">
                <a:extLst>
                  <a:ext uri="{FF2B5EF4-FFF2-40B4-BE49-F238E27FC236}">
                    <a16:creationId xmlns:a16="http://schemas.microsoft.com/office/drawing/2014/main" id="{7135B762-F679-C53D-27CE-F497E590DE91}"/>
                  </a:ext>
                </a:extLst>
              </p:cNvPr>
              <p:cNvSpPr/>
              <p:nvPr/>
            </p:nvSpPr>
            <p:spPr>
              <a:xfrm>
                <a:off x="6274647" y="6190521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3" name="Oval 1082">
                <a:extLst>
                  <a:ext uri="{FF2B5EF4-FFF2-40B4-BE49-F238E27FC236}">
                    <a16:creationId xmlns:a16="http://schemas.microsoft.com/office/drawing/2014/main" id="{581CA3C1-00F6-9E4C-2366-5861BD2948DC}"/>
                  </a:ext>
                </a:extLst>
              </p:cNvPr>
              <p:cNvSpPr/>
              <p:nvPr/>
            </p:nvSpPr>
            <p:spPr>
              <a:xfrm>
                <a:off x="6475585" y="6190521"/>
                <a:ext cx="123161" cy="12287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84" name="Oval 1083">
                <a:extLst>
                  <a:ext uri="{FF2B5EF4-FFF2-40B4-BE49-F238E27FC236}">
                    <a16:creationId xmlns:a16="http://schemas.microsoft.com/office/drawing/2014/main" id="{C80712CA-5A9D-18BC-FF64-0A7672D4CF45}"/>
                  </a:ext>
                </a:extLst>
              </p:cNvPr>
              <p:cNvSpPr/>
              <p:nvPr/>
            </p:nvSpPr>
            <p:spPr>
              <a:xfrm>
                <a:off x="5667837" y="6407021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5" name="Oval 1084">
                <a:extLst>
                  <a:ext uri="{FF2B5EF4-FFF2-40B4-BE49-F238E27FC236}">
                    <a16:creationId xmlns:a16="http://schemas.microsoft.com/office/drawing/2014/main" id="{1FEF0F61-1777-828A-6E14-17BB4DE31C26}"/>
                  </a:ext>
                </a:extLst>
              </p:cNvPr>
              <p:cNvSpPr/>
              <p:nvPr/>
            </p:nvSpPr>
            <p:spPr>
              <a:xfrm>
                <a:off x="5868775" y="6407021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6" name="Oval 1085">
                <a:extLst>
                  <a:ext uri="{FF2B5EF4-FFF2-40B4-BE49-F238E27FC236}">
                    <a16:creationId xmlns:a16="http://schemas.microsoft.com/office/drawing/2014/main" id="{18E95B11-51F4-ADD4-5A54-8C6B1A71CFDA}"/>
                  </a:ext>
                </a:extLst>
              </p:cNvPr>
              <p:cNvSpPr/>
              <p:nvPr/>
            </p:nvSpPr>
            <p:spPr>
              <a:xfrm>
                <a:off x="6071711" y="6407021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7" name="Oval 1086">
                <a:extLst>
                  <a:ext uri="{FF2B5EF4-FFF2-40B4-BE49-F238E27FC236}">
                    <a16:creationId xmlns:a16="http://schemas.microsoft.com/office/drawing/2014/main" id="{7EB312D7-9930-B998-9A53-F3AD7D9172AB}"/>
                  </a:ext>
                </a:extLst>
              </p:cNvPr>
              <p:cNvSpPr/>
              <p:nvPr/>
            </p:nvSpPr>
            <p:spPr>
              <a:xfrm>
                <a:off x="6274647" y="6403748"/>
                <a:ext cx="123161" cy="12287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8" name="Oval 1087">
                <a:extLst>
                  <a:ext uri="{FF2B5EF4-FFF2-40B4-BE49-F238E27FC236}">
                    <a16:creationId xmlns:a16="http://schemas.microsoft.com/office/drawing/2014/main" id="{96F970F1-40EA-0A64-A8E1-3DC44205CC81}"/>
                  </a:ext>
                </a:extLst>
              </p:cNvPr>
              <p:cNvSpPr/>
              <p:nvPr/>
            </p:nvSpPr>
            <p:spPr>
              <a:xfrm>
                <a:off x="6475585" y="6403748"/>
                <a:ext cx="123161" cy="12287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89" name="Oval 1088">
                <a:extLst>
                  <a:ext uri="{FF2B5EF4-FFF2-40B4-BE49-F238E27FC236}">
                    <a16:creationId xmlns:a16="http://schemas.microsoft.com/office/drawing/2014/main" id="{458A1175-F7B1-6275-1CE2-FD497FF91895}"/>
                  </a:ext>
                </a:extLst>
              </p:cNvPr>
              <p:cNvSpPr/>
              <p:nvPr/>
            </p:nvSpPr>
            <p:spPr>
              <a:xfrm>
                <a:off x="5667837" y="6613520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0" name="Oval 1089">
                <a:extLst>
                  <a:ext uri="{FF2B5EF4-FFF2-40B4-BE49-F238E27FC236}">
                    <a16:creationId xmlns:a16="http://schemas.microsoft.com/office/drawing/2014/main" id="{12350A1E-4B52-C025-6893-CE72D80168F7}"/>
                  </a:ext>
                </a:extLst>
              </p:cNvPr>
              <p:cNvSpPr/>
              <p:nvPr/>
            </p:nvSpPr>
            <p:spPr>
              <a:xfrm>
                <a:off x="5868775" y="6613520"/>
                <a:ext cx="123161" cy="122878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1" name="Oval 1090">
                <a:extLst>
                  <a:ext uri="{FF2B5EF4-FFF2-40B4-BE49-F238E27FC236}">
                    <a16:creationId xmlns:a16="http://schemas.microsoft.com/office/drawing/2014/main" id="{7D9AF3CF-CE20-9E3C-F96C-18831F3FA600}"/>
                  </a:ext>
                </a:extLst>
              </p:cNvPr>
              <p:cNvSpPr/>
              <p:nvPr/>
            </p:nvSpPr>
            <p:spPr>
              <a:xfrm>
                <a:off x="6071711" y="6613520"/>
                <a:ext cx="123161" cy="12287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2" name="Oval 1091">
                <a:extLst>
                  <a:ext uri="{FF2B5EF4-FFF2-40B4-BE49-F238E27FC236}">
                    <a16:creationId xmlns:a16="http://schemas.microsoft.com/office/drawing/2014/main" id="{86EFD07D-28FE-7F46-9C97-10606B4CBD29}"/>
                  </a:ext>
                </a:extLst>
              </p:cNvPr>
              <p:cNvSpPr/>
              <p:nvPr/>
            </p:nvSpPr>
            <p:spPr>
              <a:xfrm>
                <a:off x="6274647" y="6610247"/>
                <a:ext cx="123161" cy="12287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3" name="Oval 1092">
                <a:extLst>
                  <a:ext uri="{FF2B5EF4-FFF2-40B4-BE49-F238E27FC236}">
                    <a16:creationId xmlns:a16="http://schemas.microsoft.com/office/drawing/2014/main" id="{C298B5E9-F42E-251A-FC0E-AE3F1A9C6DA5}"/>
                  </a:ext>
                </a:extLst>
              </p:cNvPr>
              <p:cNvSpPr/>
              <p:nvPr/>
            </p:nvSpPr>
            <p:spPr>
              <a:xfrm>
                <a:off x="6475585" y="6610247"/>
                <a:ext cx="123161" cy="12287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1094" name="TextBox 1093">
            <a:extLst>
              <a:ext uri="{FF2B5EF4-FFF2-40B4-BE49-F238E27FC236}">
                <a16:creationId xmlns:a16="http://schemas.microsoft.com/office/drawing/2014/main" id="{59442A57-F814-2722-4E85-5BB6A7BAE8EC}"/>
              </a:ext>
            </a:extLst>
          </p:cNvPr>
          <p:cNvSpPr txBox="1"/>
          <p:nvPr/>
        </p:nvSpPr>
        <p:spPr>
          <a:xfrm>
            <a:off x="4050789" y="7777001"/>
            <a:ext cx="2014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BROADER SKILL SET</a:t>
            </a:r>
          </a:p>
        </p:txBody>
      </p:sp>
      <p:cxnSp>
        <p:nvCxnSpPr>
          <p:cNvPr id="1095" name="Straight Connector 1094">
            <a:extLst>
              <a:ext uri="{FF2B5EF4-FFF2-40B4-BE49-F238E27FC236}">
                <a16:creationId xmlns:a16="http://schemas.microsoft.com/office/drawing/2014/main" id="{681FD444-5748-FE5B-D572-C7FFC70A4F99}"/>
              </a:ext>
            </a:extLst>
          </p:cNvPr>
          <p:cNvCxnSpPr>
            <a:cxnSpLocks/>
          </p:cNvCxnSpPr>
          <p:nvPr/>
        </p:nvCxnSpPr>
        <p:spPr>
          <a:xfrm>
            <a:off x="4131357" y="8125672"/>
            <a:ext cx="230330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3" name="TextBox 1102">
            <a:extLst>
              <a:ext uri="{FF2B5EF4-FFF2-40B4-BE49-F238E27FC236}">
                <a16:creationId xmlns:a16="http://schemas.microsoft.com/office/drawing/2014/main" id="{B963519A-A001-E159-0765-3848156D69EF}"/>
              </a:ext>
            </a:extLst>
          </p:cNvPr>
          <p:cNvSpPr txBox="1"/>
          <p:nvPr/>
        </p:nvSpPr>
        <p:spPr>
          <a:xfrm>
            <a:off x="4045049" y="6819042"/>
            <a:ext cx="23543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Other Programming &amp; Software</a:t>
            </a:r>
          </a:p>
        </p:txBody>
      </p:sp>
      <p:grpSp>
        <p:nvGrpSpPr>
          <p:cNvPr id="1128" name="Group 1127">
            <a:extLst>
              <a:ext uri="{FF2B5EF4-FFF2-40B4-BE49-F238E27FC236}">
                <a16:creationId xmlns:a16="http://schemas.microsoft.com/office/drawing/2014/main" id="{4E071D86-C842-4939-5E37-962769A06C18}"/>
              </a:ext>
            </a:extLst>
          </p:cNvPr>
          <p:cNvGrpSpPr/>
          <p:nvPr/>
        </p:nvGrpSpPr>
        <p:grpSpPr>
          <a:xfrm>
            <a:off x="4100771" y="7093068"/>
            <a:ext cx="3279498" cy="578225"/>
            <a:chOff x="4215071" y="7145138"/>
            <a:chExt cx="3279498" cy="578225"/>
          </a:xfrm>
        </p:grpSpPr>
        <p:sp>
          <p:nvSpPr>
            <p:cNvPr id="1114" name="TextBox 1113">
              <a:extLst>
                <a:ext uri="{FF2B5EF4-FFF2-40B4-BE49-F238E27FC236}">
                  <a16:creationId xmlns:a16="http://schemas.microsoft.com/office/drawing/2014/main" id="{5C5067F9-6ABB-7D56-855B-7F06E546BBA1}"/>
                </a:ext>
              </a:extLst>
            </p:cNvPr>
            <p:cNvSpPr txBox="1"/>
            <p:nvPr/>
          </p:nvSpPr>
          <p:spPr>
            <a:xfrm>
              <a:off x="6071711" y="7442069"/>
              <a:ext cx="14228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Xarray</a:t>
              </a:r>
            </a:p>
          </p:txBody>
        </p:sp>
        <p:grpSp>
          <p:nvGrpSpPr>
            <p:cNvPr id="1124" name="Group 1123">
              <a:extLst>
                <a:ext uri="{FF2B5EF4-FFF2-40B4-BE49-F238E27FC236}">
                  <a16:creationId xmlns:a16="http://schemas.microsoft.com/office/drawing/2014/main" id="{77EFB4B2-3B08-673D-E9D8-1050709184CD}"/>
                </a:ext>
              </a:extLst>
            </p:cNvPr>
            <p:cNvGrpSpPr/>
            <p:nvPr/>
          </p:nvGrpSpPr>
          <p:grpSpPr>
            <a:xfrm>
              <a:off x="4215071" y="7145138"/>
              <a:ext cx="2515928" cy="578225"/>
              <a:chOff x="4239455" y="7145138"/>
              <a:chExt cx="2515928" cy="578225"/>
            </a:xfrm>
          </p:grpSpPr>
          <p:sp>
            <p:nvSpPr>
              <p:cNvPr id="1105" name="TextBox 1104">
                <a:extLst>
                  <a:ext uri="{FF2B5EF4-FFF2-40B4-BE49-F238E27FC236}">
                    <a16:creationId xmlns:a16="http://schemas.microsoft.com/office/drawing/2014/main" id="{D99A63C2-AA08-E6E5-C6FA-60D697982F9C}"/>
                  </a:ext>
                </a:extLst>
              </p:cNvPr>
              <p:cNvSpPr txBox="1"/>
              <p:nvPr/>
            </p:nvSpPr>
            <p:spPr>
              <a:xfrm>
                <a:off x="4239455" y="7145138"/>
                <a:ext cx="6437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HTML</a:t>
                </a:r>
              </a:p>
            </p:txBody>
          </p:sp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927C2E5-C56F-2BA7-3EC3-F1935A87850D}"/>
                  </a:ext>
                </a:extLst>
              </p:cNvPr>
              <p:cNvSpPr txBox="1"/>
              <p:nvPr/>
            </p:nvSpPr>
            <p:spPr>
              <a:xfrm>
                <a:off x="4795618" y="7145377"/>
                <a:ext cx="6437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Linux</a:t>
                </a:r>
              </a:p>
            </p:txBody>
          </p:sp>
          <p:sp>
            <p:nvSpPr>
              <p:cNvPr id="1104" name="Rectangle: Rounded Corners 1103">
                <a:extLst>
                  <a:ext uri="{FF2B5EF4-FFF2-40B4-BE49-F238E27FC236}">
                    <a16:creationId xmlns:a16="http://schemas.microsoft.com/office/drawing/2014/main" id="{C0DA33BD-5634-D736-FB3C-5384FDAA1FF8}"/>
                  </a:ext>
                </a:extLst>
              </p:cNvPr>
              <p:cNvSpPr/>
              <p:nvPr/>
            </p:nvSpPr>
            <p:spPr>
              <a:xfrm>
                <a:off x="4282233" y="7157318"/>
                <a:ext cx="472647" cy="247278"/>
              </a:xfrm>
              <a:prstGeom prst="round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6" name="Rectangle: Rounded Corners 1105">
                <a:extLst>
                  <a:ext uri="{FF2B5EF4-FFF2-40B4-BE49-F238E27FC236}">
                    <a16:creationId xmlns:a16="http://schemas.microsoft.com/office/drawing/2014/main" id="{AFFF61D9-7A4D-D76C-6106-FCB8145AB9B7}"/>
                  </a:ext>
                </a:extLst>
              </p:cNvPr>
              <p:cNvSpPr/>
              <p:nvPr/>
            </p:nvSpPr>
            <p:spPr>
              <a:xfrm>
                <a:off x="4828125" y="7159584"/>
                <a:ext cx="465870" cy="247278"/>
              </a:xfrm>
              <a:prstGeom prst="round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8" name="TextBox 1107">
                <a:extLst>
                  <a:ext uri="{FF2B5EF4-FFF2-40B4-BE49-F238E27FC236}">
                    <a16:creationId xmlns:a16="http://schemas.microsoft.com/office/drawing/2014/main" id="{BFA03E7E-79DE-07A6-2900-62437EC6E9CD}"/>
                  </a:ext>
                </a:extLst>
              </p:cNvPr>
              <p:cNvSpPr txBox="1"/>
              <p:nvPr/>
            </p:nvSpPr>
            <p:spPr>
              <a:xfrm>
                <a:off x="5332525" y="7148954"/>
                <a:ext cx="14228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Machine learning</a:t>
                </a:r>
              </a:p>
            </p:txBody>
          </p:sp>
          <p:sp>
            <p:nvSpPr>
              <p:cNvPr id="1109" name="Rectangle: Rounded Corners 1108">
                <a:extLst>
                  <a:ext uri="{FF2B5EF4-FFF2-40B4-BE49-F238E27FC236}">
                    <a16:creationId xmlns:a16="http://schemas.microsoft.com/office/drawing/2014/main" id="{3EA6F188-02A0-F2AE-8D1F-7707FFD51F42}"/>
                  </a:ext>
                </a:extLst>
              </p:cNvPr>
              <p:cNvSpPr/>
              <p:nvPr/>
            </p:nvSpPr>
            <p:spPr>
              <a:xfrm>
                <a:off x="5365032" y="7163161"/>
                <a:ext cx="1271988" cy="247278"/>
              </a:xfrm>
              <a:prstGeom prst="round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0" name="TextBox 1109">
                <a:extLst>
                  <a:ext uri="{FF2B5EF4-FFF2-40B4-BE49-F238E27FC236}">
                    <a16:creationId xmlns:a16="http://schemas.microsoft.com/office/drawing/2014/main" id="{506B5994-982A-9EF1-0102-01E42E407B8C}"/>
                  </a:ext>
                </a:extLst>
              </p:cNvPr>
              <p:cNvSpPr txBox="1"/>
              <p:nvPr/>
            </p:nvSpPr>
            <p:spPr>
              <a:xfrm>
                <a:off x="4248247" y="7440160"/>
                <a:ext cx="9111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JavaScript</a:t>
                </a:r>
              </a:p>
            </p:txBody>
          </p:sp>
          <p:sp>
            <p:nvSpPr>
              <p:cNvPr id="1111" name="Rectangle: Rounded Corners 1110">
                <a:extLst>
                  <a:ext uri="{FF2B5EF4-FFF2-40B4-BE49-F238E27FC236}">
                    <a16:creationId xmlns:a16="http://schemas.microsoft.com/office/drawing/2014/main" id="{FC4DC3E7-061A-7DE0-D9DB-D1D7949656BE}"/>
                  </a:ext>
                </a:extLst>
              </p:cNvPr>
              <p:cNvSpPr/>
              <p:nvPr/>
            </p:nvSpPr>
            <p:spPr>
              <a:xfrm>
                <a:off x="4280753" y="7454367"/>
                <a:ext cx="790963" cy="247278"/>
              </a:xfrm>
              <a:prstGeom prst="round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2" name="TextBox 1111">
                <a:extLst>
                  <a:ext uri="{FF2B5EF4-FFF2-40B4-BE49-F238E27FC236}">
                    <a16:creationId xmlns:a16="http://schemas.microsoft.com/office/drawing/2014/main" id="{C521AEA4-621B-DD1A-299D-33B1D681B47F}"/>
                  </a:ext>
                </a:extLst>
              </p:cNvPr>
              <p:cNvSpPr txBox="1"/>
              <p:nvPr/>
            </p:nvSpPr>
            <p:spPr>
              <a:xfrm>
                <a:off x="5093313" y="7446364"/>
                <a:ext cx="14228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Statsmodels</a:t>
                </a:r>
              </a:p>
            </p:txBody>
          </p:sp>
          <p:sp>
            <p:nvSpPr>
              <p:cNvPr id="1113" name="Rectangle: Rounded Corners 1112">
                <a:extLst>
                  <a:ext uri="{FF2B5EF4-FFF2-40B4-BE49-F238E27FC236}">
                    <a16:creationId xmlns:a16="http://schemas.microsoft.com/office/drawing/2014/main" id="{1E75196F-1D12-42E8-F5D3-98E514371D63}"/>
                  </a:ext>
                </a:extLst>
              </p:cNvPr>
              <p:cNvSpPr/>
              <p:nvPr/>
            </p:nvSpPr>
            <p:spPr>
              <a:xfrm>
                <a:off x="5125820" y="7460571"/>
                <a:ext cx="945891" cy="239177"/>
              </a:xfrm>
              <a:prstGeom prst="round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5" name="Rectangle: Rounded Corners 1114">
                <a:extLst>
                  <a:ext uri="{FF2B5EF4-FFF2-40B4-BE49-F238E27FC236}">
                    <a16:creationId xmlns:a16="http://schemas.microsoft.com/office/drawing/2014/main" id="{3243A8F5-A13D-380B-009F-24757B48F891}"/>
                  </a:ext>
                </a:extLst>
              </p:cNvPr>
              <p:cNvSpPr/>
              <p:nvPr/>
            </p:nvSpPr>
            <p:spPr>
              <a:xfrm>
                <a:off x="6125947" y="7452128"/>
                <a:ext cx="511073" cy="247620"/>
              </a:xfrm>
              <a:prstGeom prst="round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29" name="TextBox 1128">
            <a:extLst>
              <a:ext uri="{FF2B5EF4-FFF2-40B4-BE49-F238E27FC236}">
                <a16:creationId xmlns:a16="http://schemas.microsoft.com/office/drawing/2014/main" id="{DB06A388-F65D-29B9-5D13-CF43E66C5A9E}"/>
              </a:ext>
            </a:extLst>
          </p:cNvPr>
          <p:cNvSpPr txBox="1"/>
          <p:nvPr/>
        </p:nvSpPr>
        <p:spPr>
          <a:xfrm>
            <a:off x="4049436" y="6521599"/>
            <a:ext cx="264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-------------------------------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D2AF2614-4C4D-08CC-5742-4BB5B6416B0F}"/>
              </a:ext>
            </a:extLst>
          </p:cNvPr>
          <p:cNvSpPr txBox="1"/>
          <p:nvPr/>
        </p:nvSpPr>
        <p:spPr>
          <a:xfrm>
            <a:off x="3606637" y="808424"/>
            <a:ext cx="30567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https://www.linkedin.com/in/brendan-clark-800/</a:t>
            </a: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A4041FE3-E8A3-5BC7-DD6F-B9483BB47A4E}"/>
              </a:ext>
            </a:extLst>
          </p:cNvPr>
          <p:cNvSpPr txBox="1"/>
          <p:nvPr/>
        </p:nvSpPr>
        <p:spPr>
          <a:xfrm>
            <a:off x="248919" y="2901533"/>
            <a:ext cx="3180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WORK &amp; RESEARCH EXPERIENCE</a:t>
            </a:r>
          </a:p>
        </p:txBody>
      </p:sp>
      <p:cxnSp>
        <p:nvCxnSpPr>
          <p:cNvPr id="1138" name="Straight Connector 1137">
            <a:extLst>
              <a:ext uri="{FF2B5EF4-FFF2-40B4-BE49-F238E27FC236}">
                <a16:creationId xmlns:a16="http://schemas.microsoft.com/office/drawing/2014/main" id="{BAE86370-AA3C-463A-5482-933F68BE8AEC}"/>
              </a:ext>
            </a:extLst>
          </p:cNvPr>
          <p:cNvCxnSpPr>
            <a:cxnSpLocks/>
          </p:cNvCxnSpPr>
          <p:nvPr/>
        </p:nvCxnSpPr>
        <p:spPr>
          <a:xfrm>
            <a:off x="316435" y="3224789"/>
            <a:ext cx="3447858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64" name="Group 1163">
            <a:extLst>
              <a:ext uri="{FF2B5EF4-FFF2-40B4-BE49-F238E27FC236}">
                <a16:creationId xmlns:a16="http://schemas.microsoft.com/office/drawing/2014/main" id="{975AFC64-DFD7-74FC-CF00-AF86F5AAA91D}"/>
              </a:ext>
            </a:extLst>
          </p:cNvPr>
          <p:cNvGrpSpPr/>
          <p:nvPr/>
        </p:nvGrpSpPr>
        <p:grpSpPr>
          <a:xfrm>
            <a:off x="268078" y="3282772"/>
            <a:ext cx="4582487" cy="1786410"/>
            <a:chOff x="248919" y="3339160"/>
            <a:chExt cx="4582487" cy="1786410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8D247510-E930-0053-C236-2172DD9E800F}"/>
                </a:ext>
              </a:extLst>
            </p:cNvPr>
            <p:cNvSpPr txBox="1"/>
            <p:nvPr/>
          </p:nvSpPr>
          <p:spPr>
            <a:xfrm>
              <a:off x="248919" y="3339160"/>
              <a:ext cx="24558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Research Associate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A3155B2B-8815-97BE-121C-D6B304F42BDD}"/>
                </a:ext>
              </a:extLst>
            </p:cNvPr>
            <p:cNvSpPr txBox="1"/>
            <p:nvPr/>
          </p:nvSpPr>
          <p:spPr>
            <a:xfrm>
              <a:off x="252096" y="3556243"/>
              <a:ext cx="2287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Cornell University</a:t>
              </a:r>
            </a:p>
          </p:txBody>
        </p:sp>
        <p:pic>
          <p:nvPicPr>
            <p:cNvPr id="1141" name="Graphic 1140" descr="Daily calendar with solid fill">
              <a:extLst>
                <a:ext uri="{FF2B5EF4-FFF2-40B4-BE49-F238E27FC236}">
                  <a16:creationId xmlns:a16="http://schemas.microsoft.com/office/drawing/2014/main" id="{D01CEAC7-4ACB-4B32-B67D-154C153DF2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5088" y="3783677"/>
              <a:ext cx="259080" cy="259080"/>
            </a:xfrm>
            <a:prstGeom prst="rect">
              <a:avLst/>
            </a:prstGeom>
          </p:spPr>
        </p:pic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2A8ADEB7-2928-4B1D-9989-4B86674F099D}"/>
                </a:ext>
              </a:extLst>
            </p:cNvPr>
            <p:cNvSpPr txBox="1"/>
            <p:nvPr/>
          </p:nvSpPr>
          <p:spPr>
            <a:xfrm>
              <a:off x="491045" y="3796767"/>
              <a:ext cx="18948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March 2025 - present</a:t>
              </a:r>
            </a:p>
          </p:txBody>
        </p:sp>
        <p:pic>
          <p:nvPicPr>
            <p:cNvPr id="1144" name="Graphic 1143" descr="Marker with solid fill">
              <a:extLst>
                <a:ext uri="{FF2B5EF4-FFF2-40B4-BE49-F238E27FC236}">
                  <a16:creationId xmlns:a16="http://schemas.microsoft.com/office/drawing/2014/main" id="{BD11CDF8-1FC5-E184-A25F-33CD242B53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74762" y="3778193"/>
              <a:ext cx="268364" cy="268364"/>
            </a:xfrm>
            <a:prstGeom prst="rect">
              <a:avLst/>
            </a:prstGeom>
          </p:spPr>
        </p:pic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C7B1E72C-39C2-066B-C870-AA9183DB1D7A}"/>
                </a:ext>
              </a:extLst>
            </p:cNvPr>
            <p:cNvSpPr txBox="1"/>
            <p:nvPr/>
          </p:nvSpPr>
          <p:spPr>
            <a:xfrm>
              <a:off x="2544183" y="3795775"/>
              <a:ext cx="2287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Ithaca, NY</a:t>
              </a:r>
            </a:p>
          </p:txBody>
        </p:sp>
        <p:sp>
          <p:nvSpPr>
            <p:cNvPr id="1147" name="TextBox 1146">
              <a:extLst>
                <a:ext uri="{FF2B5EF4-FFF2-40B4-BE49-F238E27FC236}">
                  <a16:creationId xmlns:a16="http://schemas.microsoft.com/office/drawing/2014/main" id="{79D49813-553E-5BEB-4618-C822612DAF42}"/>
                </a:ext>
              </a:extLst>
            </p:cNvPr>
            <p:cNvSpPr txBox="1"/>
            <p:nvPr/>
          </p:nvSpPr>
          <p:spPr>
            <a:xfrm>
              <a:off x="286616" y="4109907"/>
              <a:ext cx="362117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200" dirty="0"/>
                <a:t>Leveraging advanced statistical, machine learning, and process-based modeling to assess future impacts to tree growth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200" dirty="0"/>
                <a:t>Collaborating with </a:t>
              </a:r>
              <a:r>
                <a:rPr lang="en-US" sz="1200" dirty="0" err="1"/>
                <a:t>CarbonPlan</a:t>
              </a:r>
              <a:r>
                <a:rPr lang="en-US" sz="1200" dirty="0"/>
                <a:t> doing statistical downscaling of climate model simulations </a:t>
              </a:r>
            </a:p>
          </p:txBody>
        </p:sp>
      </p:grpSp>
      <p:grpSp>
        <p:nvGrpSpPr>
          <p:cNvPr id="1165" name="Group 1164">
            <a:extLst>
              <a:ext uri="{FF2B5EF4-FFF2-40B4-BE49-F238E27FC236}">
                <a16:creationId xmlns:a16="http://schemas.microsoft.com/office/drawing/2014/main" id="{665CCAB6-F745-5320-F429-1366A38A0BEF}"/>
              </a:ext>
            </a:extLst>
          </p:cNvPr>
          <p:cNvGrpSpPr/>
          <p:nvPr/>
        </p:nvGrpSpPr>
        <p:grpSpPr>
          <a:xfrm>
            <a:off x="239999" y="5084466"/>
            <a:ext cx="4616620" cy="1786410"/>
            <a:chOff x="239999" y="5140854"/>
            <a:chExt cx="4616620" cy="1786410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1E280E76-8728-48BD-EA8C-21BEE52CBA03}"/>
                </a:ext>
              </a:extLst>
            </p:cNvPr>
            <p:cNvSpPr txBox="1"/>
            <p:nvPr/>
          </p:nvSpPr>
          <p:spPr>
            <a:xfrm>
              <a:off x="239999" y="5140854"/>
              <a:ext cx="24558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Research Assistant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1492F408-5292-DAC4-854B-4E7A3036C289}"/>
                </a:ext>
              </a:extLst>
            </p:cNvPr>
            <p:cNvSpPr txBox="1"/>
            <p:nvPr/>
          </p:nvSpPr>
          <p:spPr>
            <a:xfrm>
              <a:off x="243176" y="5357937"/>
              <a:ext cx="2287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Rutgers University</a:t>
              </a:r>
            </a:p>
          </p:txBody>
        </p:sp>
        <p:pic>
          <p:nvPicPr>
            <p:cNvPr id="1150" name="Graphic 1149" descr="Daily calendar with solid fill">
              <a:extLst>
                <a:ext uri="{FF2B5EF4-FFF2-40B4-BE49-F238E27FC236}">
                  <a16:creationId xmlns:a16="http://schemas.microsoft.com/office/drawing/2014/main" id="{532DF43D-BACB-7A86-6444-2649645555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6168" y="5585371"/>
              <a:ext cx="259080" cy="259080"/>
            </a:xfrm>
            <a:prstGeom prst="rect">
              <a:avLst/>
            </a:prstGeom>
          </p:spPr>
        </p:pic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27A72953-66D2-3F4A-CB2E-6AA36EADDA74}"/>
                </a:ext>
              </a:extLst>
            </p:cNvPr>
            <p:cNvSpPr txBox="1"/>
            <p:nvPr/>
          </p:nvSpPr>
          <p:spPr>
            <a:xfrm>
              <a:off x="482125" y="5598461"/>
              <a:ext cx="20482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August 2020 – January 2025</a:t>
              </a:r>
            </a:p>
          </p:txBody>
        </p:sp>
        <p:pic>
          <p:nvPicPr>
            <p:cNvPr id="1152" name="Graphic 1151" descr="Marker with solid fill">
              <a:extLst>
                <a:ext uri="{FF2B5EF4-FFF2-40B4-BE49-F238E27FC236}">
                  <a16:creationId xmlns:a16="http://schemas.microsoft.com/office/drawing/2014/main" id="{DFDDCABA-3D2E-4295-4B18-7EFE28C4CA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15215" y="5580729"/>
              <a:ext cx="268364" cy="268364"/>
            </a:xfrm>
            <a:prstGeom prst="rect">
              <a:avLst/>
            </a:prstGeom>
          </p:spPr>
        </p:pic>
        <p:sp>
          <p:nvSpPr>
            <p:cNvPr id="1153" name="TextBox 1152">
              <a:extLst>
                <a:ext uri="{FF2B5EF4-FFF2-40B4-BE49-F238E27FC236}">
                  <a16:creationId xmlns:a16="http://schemas.microsoft.com/office/drawing/2014/main" id="{153B6539-DC8B-0F36-485D-A0957F542C81}"/>
                </a:ext>
              </a:extLst>
            </p:cNvPr>
            <p:cNvSpPr txBox="1"/>
            <p:nvPr/>
          </p:nvSpPr>
          <p:spPr>
            <a:xfrm>
              <a:off x="2569396" y="5598311"/>
              <a:ext cx="2287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New Brunswick, NJ</a:t>
              </a:r>
            </a:p>
          </p:txBody>
        </p:sp>
        <p:sp>
          <p:nvSpPr>
            <p:cNvPr id="1154" name="TextBox 1153">
              <a:extLst>
                <a:ext uri="{FF2B5EF4-FFF2-40B4-BE49-F238E27FC236}">
                  <a16:creationId xmlns:a16="http://schemas.microsoft.com/office/drawing/2014/main" id="{52517FB1-C3CA-A1BC-0DA5-917B646E6D78}"/>
                </a:ext>
              </a:extLst>
            </p:cNvPr>
            <p:cNvSpPr txBox="1"/>
            <p:nvPr/>
          </p:nvSpPr>
          <p:spPr>
            <a:xfrm>
              <a:off x="277696" y="5911601"/>
              <a:ext cx="362117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200" dirty="0"/>
                <a:t>Used the Community Earth System Model to assess impacts to global food production and nutritional quality under climate change 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200" dirty="0"/>
                <a:t>Led cross-disciplinary research teams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200" dirty="0"/>
                <a:t>Awarded four travel grants to present findings</a:t>
              </a:r>
            </a:p>
          </p:txBody>
        </p:sp>
      </p:grpSp>
      <p:grpSp>
        <p:nvGrpSpPr>
          <p:cNvPr id="1166" name="Group 1165">
            <a:extLst>
              <a:ext uri="{FF2B5EF4-FFF2-40B4-BE49-F238E27FC236}">
                <a16:creationId xmlns:a16="http://schemas.microsoft.com/office/drawing/2014/main" id="{EDD0A0EB-4B66-1287-2F23-36AE98ACA15E}"/>
              </a:ext>
            </a:extLst>
          </p:cNvPr>
          <p:cNvGrpSpPr/>
          <p:nvPr/>
        </p:nvGrpSpPr>
        <p:grpSpPr>
          <a:xfrm>
            <a:off x="239999" y="6895865"/>
            <a:ext cx="4631860" cy="1900165"/>
            <a:chOff x="239999" y="6952253"/>
            <a:chExt cx="4631860" cy="1900165"/>
          </a:xfrm>
        </p:grpSpPr>
        <p:sp>
          <p:nvSpPr>
            <p:cNvPr id="1155" name="TextBox 1154">
              <a:extLst>
                <a:ext uri="{FF2B5EF4-FFF2-40B4-BE49-F238E27FC236}">
                  <a16:creationId xmlns:a16="http://schemas.microsoft.com/office/drawing/2014/main" id="{D125FFAB-0434-7A26-CD3A-A0F55D95F32A}"/>
                </a:ext>
              </a:extLst>
            </p:cNvPr>
            <p:cNvSpPr txBox="1"/>
            <p:nvPr/>
          </p:nvSpPr>
          <p:spPr>
            <a:xfrm>
              <a:off x="239999" y="6952253"/>
              <a:ext cx="30649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Undergraduate Research Assistant</a:t>
              </a:r>
            </a:p>
          </p:txBody>
        </p:sp>
        <p:sp>
          <p:nvSpPr>
            <p:cNvPr id="1156" name="TextBox 1155">
              <a:extLst>
                <a:ext uri="{FF2B5EF4-FFF2-40B4-BE49-F238E27FC236}">
                  <a16:creationId xmlns:a16="http://schemas.microsoft.com/office/drawing/2014/main" id="{11CE7BBB-12E4-3CBF-9B14-9534B9C18C6B}"/>
                </a:ext>
              </a:extLst>
            </p:cNvPr>
            <p:cNvSpPr txBox="1"/>
            <p:nvPr/>
          </p:nvSpPr>
          <p:spPr>
            <a:xfrm>
              <a:off x="243176" y="7169336"/>
              <a:ext cx="2287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University of Massachusetts</a:t>
              </a:r>
            </a:p>
          </p:txBody>
        </p:sp>
        <p:pic>
          <p:nvPicPr>
            <p:cNvPr id="1157" name="Graphic 1156" descr="Daily calendar with solid fill">
              <a:extLst>
                <a:ext uri="{FF2B5EF4-FFF2-40B4-BE49-F238E27FC236}">
                  <a16:creationId xmlns:a16="http://schemas.microsoft.com/office/drawing/2014/main" id="{BDDBD2E2-0AC7-C777-3D94-99E54F4E4B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6168" y="7396770"/>
              <a:ext cx="259080" cy="259080"/>
            </a:xfrm>
            <a:prstGeom prst="rect">
              <a:avLst/>
            </a:prstGeom>
          </p:spPr>
        </p:pic>
        <p:sp>
          <p:nvSpPr>
            <p:cNvPr id="1158" name="TextBox 1157">
              <a:extLst>
                <a:ext uri="{FF2B5EF4-FFF2-40B4-BE49-F238E27FC236}">
                  <a16:creationId xmlns:a16="http://schemas.microsoft.com/office/drawing/2014/main" id="{1A9B2C63-B8ED-9F22-14F0-87A8D69C7163}"/>
                </a:ext>
              </a:extLst>
            </p:cNvPr>
            <p:cNvSpPr txBox="1"/>
            <p:nvPr/>
          </p:nvSpPr>
          <p:spPr>
            <a:xfrm>
              <a:off x="482125" y="7409860"/>
              <a:ext cx="20482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August 2018 – May 2020</a:t>
              </a:r>
            </a:p>
          </p:txBody>
        </p:sp>
        <p:pic>
          <p:nvPicPr>
            <p:cNvPr id="1159" name="Graphic 1158" descr="Marker with solid fill">
              <a:extLst>
                <a:ext uri="{FF2B5EF4-FFF2-40B4-BE49-F238E27FC236}">
                  <a16:creationId xmlns:a16="http://schemas.microsoft.com/office/drawing/2014/main" id="{0732295C-27A8-296E-A278-91602A8E10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30455" y="7392128"/>
              <a:ext cx="268364" cy="268364"/>
            </a:xfrm>
            <a:prstGeom prst="rect">
              <a:avLst/>
            </a:prstGeom>
          </p:spPr>
        </p:pic>
        <p:sp>
          <p:nvSpPr>
            <p:cNvPr id="1160" name="TextBox 1159">
              <a:extLst>
                <a:ext uri="{FF2B5EF4-FFF2-40B4-BE49-F238E27FC236}">
                  <a16:creationId xmlns:a16="http://schemas.microsoft.com/office/drawing/2014/main" id="{9F4DEE00-747E-404E-B694-E1977D047F2D}"/>
                </a:ext>
              </a:extLst>
            </p:cNvPr>
            <p:cNvSpPr txBox="1"/>
            <p:nvPr/>
          </p:nvSpPr>
          <p:spPr>
            <a:xfrm>
              <a:off x="2584636" y="7409710"/>
              <a:ext cx="2287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Amherst, MA</a:t>
              </a:r>
            </a:p>
          </p:txBody>
        </p:sp>
        <p:sp>
          <p:nvSpPr>
            <p:cNvPr id="1161" name="TextBox 1160">
              <a:extLst>
                <a:ext uri="{FF2B5EF4-FFF2-40B4-BE49-F238E27FC236}">
                  <a16:creationId xmlns:a16="http://schemas.microsoft.com/office/drawing/2014/main" id="{8D5C7B3D-E108-920B-2AAC-AED0FFCD35AE}"/>
                </a:ext>
              </a:extLst>
            </p:cNvPr>
            <p:cNvSpPr txBox="1"/>
            <p:nvPr/>
          </p:nvSpPr>
          <p:spPr>
            <a:xfrm>
              <a:off x="310762" y="7652089"/>
              <a:ext cx="362117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200" dirty="0"/>
                <a:t>Used gas chromatography to analyze trace gas measurements from shale samples to determine greenhouse gas emissions from fracking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200" dirty="0"/>
                <a:t>Designed and administered a survey to assess how GIS is being taught by </a:t>
              </a:r>
              <a:r>
                <a:rPr lang="en-US" sz="1200" dirty="0" err="1"/>
                <a:t>geocomputation</a:t>
              </a:r>
              <a:r>
                <a:rPr lang="en-US" sz="1200" dirty="0"/>
                <a:t> instructors</a:t>
              </a:r>
            </a:p>
          </p:txBody>
        </p:sp>
      </p:grpSp>
      <p:grpSp>
        <p:nvGrpSpPr>
          <p:cNvPr id="1180" name="Group 1179">
            <a:extLst>
              <a:ext uri="{FF2B5EF4-FFF2-40B4-BE49-F238E27FC236}">
                <a16:creationId xmlns:a16="http://schemas.microsoft.com/office/drawing/2014/main" id="{B337C450-7785-2E1F-481D-A013B3B615E1}"/>
              </a:ext>
            </a:extLst>
          </p:cNvPr>
          <p:cNvGrpSpPr/>
          <p:nvPr/>
        </p:nvGrpSpPr>
        <p:grpSpPr>
          <a:xfrm>
            <a:off x="4099715" y="8230766"/>
            <a:ext cx="3296694" cy="553998"/>
            <a:chOff x="4214015" y="8230766"/>
            <a:chExt cx="3296694" cy="553998"/>
          </a:xfrm>
        </p:grpSpPr>
        <p:sp>
          <p:nvSpPr>
            <p:cNvPr id="1178" name="TextBox 1177">
              <a:extLst>
                <a:ext uri="{FF2B5EF4-FFF2-40B4-BE49-F238E27FC236}">
                  <a16:creationId xmlns:a16="http://schemas.microsoft.com/office/drawing/2014/main" id="{CC356E43-464A-7205-0C97-E4F735B9D32D}"/>
                </a:ext>
              </a:extLst>
            </p:cNvPr>
            <p:cNvSpPr txBox="1"/>
            <p:nvPr/>
          </p:nvSpPr>
          <p:spPr>
            <a:xfrm>
              <a:off x="5909056" y="8507765"/>
              <a:ext cx="16016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Teamwork</a:t>
              </a:r>
            </a:p>
          </p:txBody>
        </p:sp>
        <p:sp>
          <p:nvSpPr>
            <p:cNvPr id="1172" name="TextBox 1171">
              <a:extLst>
                <a:ext uri="{FF2B5EF4-FFF2-40B4-BE49-F238E27FC236}">
                  <a16:creationId xmlns:a16="http://schemas.microsoft.com/office/drawing/2014/main" id="{3EF6BCAD-6AED-D369-30F8-668C7E813141}"/>
                </a:ext>
              </a:extLst>
            </p:cNvPr>
            <p:cNvSpPr txBox="1"/>
            <p:nvPr/>
          </p:nvSpPr>
          <p:spPr>
            <a:xfrm>
              <a:off x="5418252" y="8230766"/>
              <a:ext cx="17923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Problem solving</a:t>
              </a:r>
            </a:p>
          </p:txBody>
        </p:sp>
        <p:grpSp>
          <p:nvGrpSpPr>
            <p:cNvPr id="1179" name="Group 1178">
              <a:extLst>
                <a:ext uri="{FF2B5EF4-FFF2-40B4-BE49-F238E27FC236}">
                  <a16:creationId xmlns:a16="http://schemas.microsoft.com/office/drawing/2014/main" id="{90E5D795-917F-42EF-F92A-7535A77E7B07}"/>
                </a:ext>
              </a:extLst>
            </p:cNvPr>
            <p:cNvGrpSpPr/>
            <p:nvPr/>
          </p:nvGrpSpPr>
          <p:grpSpPr>
            <a:xfrm>
              <a:off x="4214015" y="8233621"/>
              <a:ext cx="2490153" cy="547866"/>
              <a:chOff x="4214015" y="8233621"/>
              <a:chExt cx="2490153" cy="547866"/>
            </a:xfrm>
          </p:grpSpPr>
          <p:sp>
            <p:nvSpPr>
              <p:cNvPr id="1176" name="TextBox 1175">
                <a:extLst>
                  <a:ext uri="{FF2B5EF4-FFF2-40B4-BE49-F238E27FC236}">
                    <a16:creationId xmlns:a16="http://schemas.microsoft.com/office/drawing/2014/main" id="{8F5A15DF-CD04-F5FB-DE21-DF20F45DF2CC}"/>
                  </a:ext>
                </a:extLst>
              </p:cNvPr>
              <p:cNvSpPr txBox="1"/>
              <p:nvPr/>
            </p:nvSpPr>
            <p:spPr>
              <a:xfrm>
                <a:off x="5169282" y="8501633"/>
                <a:ext cx="8181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Creativity</a:t>
                </a:r>
              </a:p>
            </p:txBody>
          </p:sp>
          <p:sp>
            <p:nvSpPr>
              <p:cNvPr id="1174" name="TextBox 1173">
                <a:extLst>
                  <a:ext uri="{FF2B5EF4-FFF2-40B4-BE49-F238E27FC236}">
                    <a16:creationId xmlns:a16="http://schemas.microsoft.com/office/drawing/2014/main" id="{3BB03D39-51BB-64CB-7731-8D38A61EEE48}"/>
                  </a:ext>
                </a:extLst>
              </p:cNvPr>
              <p:cNvSpPr txBox="1"/>
              <p:nvPr/>
            </p:nvSpPr>
            <p:spPr>
              <a:xfrm>
                <a:off x="4234379" y="8504488"/>
                <a:ext cx="16016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Adaptability</a:t>
                </a:r>
              </a:p>
            </p:txBody>
          </p:sp>
          <p:sp>
            <p:nvSpPr>
              <p:cNvPr id="1097" name="TextBox 1096">
                <a:extLst>
                  <a:ext uri="{FF2B5EF4-FFF2-40B4-BE49-F238E27FC236}">
                    <a16:creationId xmlns:a16="http://schemas.microsoft.com/office/drawing/2014/main" id="{F308639E-D4D3-7752-30FA-C3321161F850}"/>
                  </a:ext>
                </a:extLst>
              </p:cNvPr>
              <p:cNvSpPr txBox="1"/>
              <p:nvPr/>
            </p:nvSpPr>
            <p:spPr>
              <a:xfrm>
                <a:off x="4214015" y="8233621"/>
                <a:ext cx="12798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Communication</a:t>
                </a:r>
              </a:p>
            </p:txBody>
          </p:sp>
          <p:sp>
            <p:nvSpPr>
              <p:cNvPr id="1118" name="Rectangle: Rounded Corners 1117">
                <a:extLst>
                  <a:ext uri="{FF2B5EF4-FFF2-40B4-BE49-F238E27FC236}">
                    <a16:creationId xmlns:a16="http://schemas.microsoft.com/office/drawing/2014/main" id="{CA51DD80-FFC6-CAE4-3DF9-58C5F60D67AF}"/>
                  </a:ext>
                </a:extLst>
              </p:cNvPr>
              <p:cNvSpPr/>
              <p:nvPr/>
            </p:nvSpPr>
            <p:spPr>
              <a:xfrm>
                <a:off x="4266531" y="8252167"/>
                <a:ext cx="1148496" cy="239177"/>
              </a:xfrm>
              <a:prstGeom prst="round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0" name="Rectangle: Rounded Corners 1169">
                <a:extLst>
                  <a:ext uri="{FF2B5EF4-FFF2-40B4-BE49-F238E27FC236}">
                    <a16:creationId xmlns:a16="http://schemas.microsoft.com/office/drawing/2014/main" id="{E89F1DAD-DBE6-2DFF-1376-BF3248E1548C}"/>
                  </a:ext>
                </a:extLst>
              </p:cNvPr>
              <p:cNvSpPr/>
              <p:nvPr/>
            </p:nvSpPr>
            <p:spPr>
              <a:xfrm>
                <a:off x="5471768" y="8252731"/>
                <a:ext cx="1129187" cy="239177"/>
              </a:xfrm>
              <a:prstGeom prst="round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73" name="Rectangle: Rounded Corners 1172">
                <a:extLst>
                  <a:ext uri="{FF2B5EF4-FFF2-40B4-BE49-F238E27FC236}">
                    <a16:creationId xmlns:a16="http://schemas.microsoft.com/office/drawing/2014/main" id="{79A61A20-3842-F0C8-8203-5F82D0FB7E0C}"/>
                  </a:ext>
                </a:extLst>
              </p:cNvPr>
              <p:cNvSpPr/>
              <p:nvPr/>
            </p:nvSpPr>
            <p:spPr>
              <a:xfrm>
                <a:off x="4257850" y="8530173"/>
                <a:ext cx="911434" cy="239177"/>
              </a:xfrm>
              <a:prstGeom prst="round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75" name="Rectangle: Rounded Corners 1174">
                <a:extLst>
                  <a:ext uri="{FF2B5EF4-FFF2-40B4-BE49-F238E27FC236}">
                    <a16:creationId xmlns:a16="http://schemas.microsoft.com/office/drawing/2014/main" id="{9A42FA5B-300F-296A-DF93-E467D77D03ED}"/>
                  </a:ext>
                </a:extLst>
              </p:cNvPr>
              <p:cNvSpPr/>
              <p:nvPr/>
            </p:nvSpPr>
            <p:spPr>
              <a:xfrm>
                <a:off x="5221918" y="8530173"/>
                <a:ext cx="711522" cy="239177"/>
              </a:xfrm>
              <a:prstGeom prst="round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77" name="Rectangle: Rounded Corners 1176">
                <a:extLst>
                  <a:ext uri="{FF2B5EF4-FFF2-40B4-BE49-F238E27FC236}">
                    <a16:creationId xmlns:a16="http://schemas.microsoft.com/office/drawing/2014/main" id="{0C49DA0B-AABF-7A80-BDF9-4D162905295F}"/>
                  </a:ext>
                </a:extLst>
              </p:cNvPr>
              <p:cNvSpPr/>
              <p:nvPr/>
            </p:nvSpPr>
            <p:spPr>
              <a:xfrm>
                <a:off x="5976296" y="8529808"/>
                <a:ext cx="727872" cy="239177"/>
              </a:xfrm>
              <a:prstGeom prst="round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1182" name="Graphic 1181" descr="Internet with solid fill">
            <a:extLst>
              <a:ext uri="{FF2B5EF4-FFF2-40B4-BE49-F238E27FC236}">
                <a16:creationId xmlns:a16="http://schemas.microsoft.com/office/drawing/2014/main" id="{C382F57A-1B77-62E9-21C5-5E48B5E796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9016" y="825966"/>
            <a:ext cx="216530" cy="216530"/>
          </a:xfrm>
          <a:prstGeom prst="rect">
            <a:avLst/>
          </a:prstGeom>
        </p:spPr>
      </p:pic>
      <p:sp>
        <p:nvSpPr>
          <p:cNvPr id="1189" name="TextBox 1188">
            <a:extLst>
              <a:ext uri="{FF2B5EF4-FFF2-40B4-BE49-F238E27FC236}">
                <a16:creationId xmlns:a16="http://schemas.microsoft.com/office/drawing/2014/main" id="{947D596B-4560-D83B-21F2-E58509FE88CC}"/>
              </a:ext>
            </a:extLst>
          </p:cNvPr>
          <p:cNvSpPr txBox="1"/>
          <p:nvPr/>
        </p:nvSpPr>
        <p:spPr>
          <a:xfrm>
            <a:off x="3411297" y="779012"/>
            <a:ext cx="3886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in</a:t>
            </a:r>
          </a:p>
        </p:txBody>
      </p:sp>
    </p:spTree>
    <p:extLst>
      <p:ext uri="{BB962C8B-B14F-4D97-AF65-F5344CB8AC3E}">
        <p14:creationId xmlns:p14="http://schemas.microsoft.com/office/powerpoint/2010/main" val="3276628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</TotalTime>
  <Words>298</Words>
  <Application>Microsoft Office PowerPoint</Application>
  <PresentationFormat>Letter Paper (8.5x11 in)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Clark</dc:creator>
  <cp:lastModifiedBy>Brendan Clark</cp:lastModifiedBy>
  <cp:revision>24</cp:revision>
  <dcterms:created xsi:type="dcterms:W3CDTF">2026-05-10T14:37:09Z</dcterms:created>
  <dcterms:modified xsi:type="dcterms:W3CDTF">2026-05-10T18:06:23Z</dcterms:modified>
</cp:coreProperties>
</file>